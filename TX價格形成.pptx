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15" r:id="rId2"/>
    <p:sldId id="549" r:id="rId3"/>
    <p:sldId id="550" r:id="rId4"/>
    <p:sldId id="551" r:id="rId5"/>
    <p:sldId id="552" r:id="rId6"/>
    <p:sldId id="553" r:id="rId7"/>
    <p:sldId id="564" r:id="rId8"/>
    <p:sldId id="554" r:id="rId9"/>
    <p:sldId id="561" r:id="rId10"/>
    <p:sldId id="562" r:id="rId11"/>
    <p:sldId id="556" r:id="rId12"/>
    <p:sldId id="555" r:id="rId13"/>
    <p:sldId id="557" r:id="rId14"/>
    <p:sldId id="558" r:id="rId15"/>
    <p:sldId id="560" r:id="rId16"/>
    <p:sldId id="563" r:id="rId17"/>
    <p:sldId id="559" r:id="rId1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109723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en, Eva-HF" initials="NE" lastIdx="42" clrIdx="0"/>
  <p:cmAuthor id="2" name="Max Ling" initials="ML" lastIdx="4" clrIdx="1">
    <p:extLst>
      <p:ext uri="{19B8F6BF-5375-455C-9EA6-DF929625EA0E}">
        <p15:presenceInfo xmlns:p15="http://schemas.microsoft.com/office/powerpoint/2012/main" userId="0177fd46f7c6655b" providerId="Windows Live"/>
      </p:ext>
    </p:extLst>
  </p:cmAuthor>
  <p:cmAuthor id="3" name="Microsoft Office User" initials="MOU" lastIdx="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606060"/>
    <a:srgbClr val="FFFFFF"/>
    <a:srgbClr val="B4BAE8"/>
    <a:srgbClr val="0000FF"/>
    <a:srgbClr val="7AB7C9"/>
    <a:srgbClr val="89BAE8"/>
    <a:srgbClr val="64BAB5"/>
    <a:srgbClr val="64BAFF"/>
    <a:srgbClr val="2AB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78" autoAdjust="0"/>
    <p:restoredTop sz="86626" autoAdjust="0"/>
  </p:normalViewPr>
  <p:slideViewPr>
    <p:cSldViewPr snapToGrid="0" snapToObjects="1">
      <p:cViewPr varScale="1">
        <p:scale>
          <a:sx n="104" d="100"/>
          <a:sy n="104" d="100"/>
        </p:scale>
        <p:origin x="205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70"/>
    </p:cViewPr>
  </p:sorterViewPr>
  <p:notesViewPr>
    <p:cSldViewPr snapToGrid="0" snapToObjects="1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6DB62E9-6640-464B-8ADB-5299B86CF0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4D7FED1-A318-2F44-A5D7-ABA7520AF6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715D4-8E63-A044-B874-63C23BB55EFD}" type="datetimeFigureOut">
              <a:rPr kumimoji="1" lang="zh-TW" altLang="en-US" smtClean="0"/>
              <a:t>2022/3/15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04CD7EB-7A31-A245-9326-42966EDD32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E65B5A-15D6-C341-9798-1AE763CBB9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B31CA-3F74-FA49-9AB7-BC503C5ED90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38499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" name="Shape 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49455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097236" latinLnBrk="0">
      <a:defRPr sz="1400">
        <a:latin typeface="+mn-lt"/>
        <a:ea typeface="+mn-ea"/>
        <a:cs typeface="+mn-cs"/>
        <a:sym typeface="Calibri"/>
      </a:defRPr>
    </a:lvl1pPr>
    <a:lvl2pPr indent="228600" defTabSz="1097236" latinLnBrk="0">
      <a:defRPr sz="1400">
        <a:latin typeface="+mn-lt"/>
        <a:ea typeface="+mn-ea"/>
        <a:cs typeface="+mn-cs"/>
        <a:sym typeface="Calibri"/>
      </a:defRPr>
    </a:lvl2pPr>
    <a:lvl3pPr indent="457200" defTabSz="1097236" latinLnBrk="0">
      <a:defRPr sz="1400">
        <a:latin typeface="+mn-lt"/>
        <a:ea typeface="+mn-ea"/>
        <a:cs typeface="+mn-cs"/>
        <a:sym typeface="Calibri"/>
      </a:defRPr>
    </a:lvl3pPr>
    <a:lvl4pPr indent="685800" defTabSz="1097236" latinLnBrk="0">
      <a:defRPr sz="1400">
        <a:latin typeface="+mn-lt"/>
        <a:ea typeface="+mn-ea"/>
        <a:cs typeface="+mn-cs"/>
        <a:sym typeface="Calibri"/>
      </a:defRPr>
    </a:lvl4pPr>
    <a:lvl5pPr indent="914400" defTabSz="1097236" latinLnBrk="0">
      <a:defRPr sz="1400">
        <a:latin typeface="+mn-lt"/>
        <a:ea typeface="+mn-ea"/>
        <a:cs typeface="+mn-cs"/>
        <a:sym typeface="Calibri"/>
      </a:defRPr>
    </a:lvl5pPr>
    <a:lvl6pPr indent="1143000" defTabSz="1097236" latinLnBrk="0">
      <a:defRPr sz="1400">
        <a:latin typeface="+mn-lt"/>
        <a:ea typeface="+mn-ea"/>
        <a:cs typeface="+mn-cs"/>
        <a:sym typeface="Calibri"/>
      </a:defRPr>
    </a:lvl6pPr>
    <a:lvl7pPr indent="1371600" defTabSz="1097236" latinLnBrk="0">
      <a:defRPr sz="1400">
        <a:latin typeface="+mn-lt"/>
        <a:ea typeface="+mn-ea"/>
        <a:cs typeface="+mn-cs"/>
        <a:sym typeface="Calibri"/>
      </a:defRPr>
    </a:lvl7pPr>
    <a:lvl8pPr indent="1600200" defTabSz="1097236" latinLnBrk="0">
      <a:defRPr sz="1400">
        <a:latin typeface="+mn-lt"/>
        <a:ea typeface="+mn-ea"/>
        <a:cs typeface="+mn-cs"/>
        <a:sym typeface="Calibri"/>
      </a:defRPr>
    </a:lvl8pPr>
    <a:lvl9pPr indent="1828800" defTabSz="1097236" latinLnBrk="0">
      <a:defRPr sz="1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7503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273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059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706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632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3797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0775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6876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0652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1472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339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9848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722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B02ED67-4976-F14D-BC85-8698742E6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185" y="6152557"/>
            <a:ext cx="4339261" cy="723372"/>
          </a:xfrm>
          <a:prstGeom prst="rect">
            <a:avLst/>
          </a:prstGeom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628650" y="973667"/>
            <a:ext cx="7886700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Tx/>
              <a:buBlip>
                <a:blip r:embed="rId3"/>
              </a:buBlip>
              <a:defRPr sz="2800"/>
            </a:lvl1pPr>
            <a:lvl2pPr marL="698911" indent="-28743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2400"/>
            </a:lvl2pPr>
            <a:lvl3pPr marL="1092549" indent="-26959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2000"/>
            </a:lvl3pPr>
            <a:lvl4pPr marL="1560195" indent="-325754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4pPr>
            <a:lvl5pPr marL="1971675" indent="-325754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Microsoft JhengHei" panose="020B0604030504040204" pitchFamily="34" charset="-120"/>
              <a:buChar char="‐"/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日期版面配置區 3">
            <a:extLst>
              <a:ext uri="{FF2B5EF4-FFF2-40B4-BE49-F238E27FC236}">
                <a16:creationId xmlns:a16="http://schemas.microsoft.com/office/drawing/2014/main" id="{348E7BFC-4749-7647-89F0-3BDB25AF3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B927FAE2-E7E2-794D-9ABF-3D3B461C5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03005A04-9867-3442-899E-4D15DA9BE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FA2B1349-B5FA-8140-B33A-083832E0B7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4" y="206621"/>
            <a:ext cx="5993516" cy="5977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按一下以新增目錄標題</a:t>
            </a:r>
          </a:p>
        </p:txBody>
      </p:sp>
    </p:spTree>
    <p:extLst>
      <p:ext uri="{BB962C8B-B14F-4D97-AF65-F5344CB8AC3E}">
        <p14:creationId xmlns:p14="http://schemas.microsoft.com/office/powerpoint/2010/main" val="23349507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單元頁(藍底白字)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4">
            <a:extLst>
              <a:ext uri="{FF2B5EF4-FFF2-40B4-BE49-F238E27FC236}">
                <a16:creationId xmlns:a16="http://schemas.microsoft.com/office/drawing/2014/main" id="{AE4AD92E-0B2D-9546-A986-0431F8A4D7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758" y="2581962"/>
            <a:ext cx="7904393" cy="8470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 i="0" spc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 dirty="0"/>
              <a:t>按一下以新增標題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485D6E5D-632D-8B43-B928-6F3439329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02E575F9-04F0-C243-9E5A-9042518E6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D5D4C82D-60CA-9349-B57C-075012E8E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4087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單元頁(白底藍字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4">
            <a:extLst>
              <a:ext uri="{FF2B5EF4-FFF2-40B4-BE49-F238E27FC236}">
                <a16:creationId xmlns:a16="http://schemas.microsoft.com/office/drawing/2014/main" id="{AE4AD92E-0B2D-9546-A986-0431F8A4D7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758" y="2581962"/>
            <a:ext cx="7904393" cy="8470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 i="0" spc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 dirty="0"/>
              <a:t>按一下以新增標題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9B0A0442-32FF-0844-92E1-E791615C8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E532940A-FF93-4946-8267-FB8E150F6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43841184-0FA6-164D-A781-6BE4B855C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962597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欄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14">
            <a:extLst>
              <a:ext uri="{FF2B5EF4-FFF2-40B4-BE49-F238E27FC236}">
                <a16:creationId xmlns:a16="http://schemas.microsoft.com/office/drawing/2014/main" id="{A330F768-6149-924A-A6C1-C67622648341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5C8C796F-2CF9-A545-B362-62B5FE55C56E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FA2B1349-B5FA-8140-B33A-083832E0B7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628650" y="973667"/>
            <a:ext cx="7886700" cy="5342466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lnSpc>
                <a:spcPct val="100000"/>
              </a:lnSpc>
              <a:spcBef>
                <a:spcPts val="450"/>
              </a:spcBef>
              <a:buFontTx/>
              <a:buBlip>
                <a:blip r:embed="rId2"/>
              </a:buBlip>
              <a:defRPr sz="2400">
                <a:latin typeface="+mn-ea"/>
                <a:ea typeface="+mn-ea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sz="2000">
                <a:latin typeface="+mn-ea"/>
                <a:ea typeface="+mn-ea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sz="1800">
                <a:latin typeface="+mn-ea"/>
                <a:ea typeface="+mn-ea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00">
                <a:latin typeface="+mn-ea"/>
                <a:ea typeface="+mn-ea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微軟正黑體" panose="020B0604030504040204" pitchFamily="34" charset="-120"/>
              <a:buChar char="‐"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7" name="日期版面配置區 3">
            <a:extLst>
              <a:ext uri="{FF2B5EF4-FFF2-40B4-BE49-F238E27FC236}">
                <a16:creationId xmlns:a16="http://schemas.microsoft.com/office/drawing/2014/main" id="{95CE69C7-37C5-2B41-B1FD-9E72DE5E5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8" name="頁尾版面配置區 4">
            <a:extLst>
              <a:ext uri="{FF2B5EF4-FFF2-40B4-BE49-F238E27FC236}">
                <a16:creationId xmlns:a16="http://schemas.microsoft.com/office/drawing/2014/main" id="{4B6045C3-89CE-EA40-93CB-EA8DAE6DB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9" name="投影片編號版面配置區 5">
            <a:extLst>
              <a:ext uri="{FF2B5EF4-FFF2-40B4-BE49-F238E27FC236}">
                <a16:creationId xmlns:a16="http://schemas.microsoft.com/office/drawing/2014/main" id="{4311518D-0E3B-D249-B16F-BD9722FAE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959264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大圖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14">
            <a:extLst>
              <a:ext uri="{FF2B5EF4-FFF2-40B4-BE49-F238E27FC236}">
                <a16:creationId xmlns:a16="http://schemas.microsoft.com/office/drawing/2014/main" id="{A330F768-6149-924A-A6C1-C67622648341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5C8C796F-2CF9-A545-B362-62B5FE55C56E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11" name="文字版面配置區 2">
            <a:extLst>
              <a:ext uri="{FF2B5EF4-FFF2-40B4-BE49-F238E27FC236}">
                <a16:creationId xmlns:a16="http://schemas.microsoft.com/office/drawing/2014/main" id="{5F811C09-FA9A-3841-9E2A-C8921098D3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1664E0-D70F-D742-8018-75D275C475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549401" y="1576919"/>
            <a:ext cx="6013736" cy="4249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12" name="日期版面配置區 3">
            <a:extLst>
              <a:ext uri="{FF2B5EF4-FFF2-40B4-BE49-F238E27FC236}">
                <a16:creationId xmlns:a16="http://schemas.microsoft.com/office/drawing/2014/main" id="{D0FB407B-44DC-D94A-8155-05657F878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1F154FEB-9567-2E46-9414-D4A5F3503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91C56652-F612-AB47-A425-08597F026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9869297"/>
      </p:ext>
    </p:extLst>
  </p:cSld>
  <p:clrMapOvr>
    <a:masterClrMapping/>
  </p:clrMapOvr>
  <p:transition spd="med"/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二列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14">
            <a:extLst>
              <a:ext uri="{FF2B5EF4-FFF2-40B4-BE49-F238E27FC236}">
                <a16:creationId xmlns:a16="http://schemas.microsoft.com/office/drawing/2014/main" id="{A330F768-6149-924A-A6C1-C67622648341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5C8C796F-2CF9-A545-B362-62B5FE55C56E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15" name="文字版面配置區 2">
            <a:extLst>
              <a:ext uri="{FF2B5EF4-FFF2-40B4-BE49-F238E27FC236}">
                <a16:creationId xmlns:a16="http://schemas.microsoft.com/office/drawing/2014/main" id="{336818F3-89BA-0E48-9788-3099598949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4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029785"/>
            <a:ext cx="7886700" cy="2509281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lnSpc>
                <a:spcPct val="100000"/>
              </a:lnSpc>
              <a:spcBef>
                <a:spcPts val="450"/>
              </a:spcBef>
              <a:buFontTx/>
              <a:buBlip>
                <a:blip r:embed="rId2"/>
              </a:buBlip>
              <a:defRPr sz="2400"/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  <p:sp>
        <p:nvSpPr>
          <p:cNvPr id="16" name="內容版面配置區 3"/>
          <p:cNvSpPr>
            <a:spLocks noGrp="1"/>
          </p:cNvSpPr>
          <p:nvPr>
            <p:ph sz="half" idx="2"/>
          </p:nvPr>
        </p:nvSpPr>
        <p:spPr>
          <a:xfrm>
            <a:off x="628650" y="3666462"/>
            <a:ext cx="7886700" cy="25092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50"/>
              </a:spcBef>
              <a:defRPr lang="zh-TW" altLang="en-US" sz="24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  <a:sym typeface="Calibri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marL="257175" marR="0" lvl="0" indent="-257175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</a:pPr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  <p:sp>
        <p:nvSpPr>
          <p:cNvPr id="12" name="日期版面配置區 3">
            <a:extLst>
              <a:ext uri="{FF2B5EF4-FFF2-40B4-BE49-F238E27FC236}">
                <a16:creationId xmlns:a16="http://schemas.microsoft.com/office/drawing/2014/main" id="{1FF71881-0138-BB4F-81DF-85243E3A12F6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8AC44A92-EFD3-0F42-B642-DCE623358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7" name="投影片編號版面配置區 5">
            <a:extLst>
              <a:ext uri="{FF2B5EF4-FFF2-40B4-BE49-F238E27FC236}">
                <a16:creationId xmlns:a16="http://schemas.microsoft.com/office/drawing/2014/main" id="{74645775-D19B-CD49-8E08-A6B54563D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852050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二欄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14">
            <a:extLst>
              <a:ext uri="{FF2B5EF4-FFF2-40B4-BE49-F238E27FC236}">
                <a16:creationId xmlns:a16="http://schemas.microsoft.com/office/drawing/2014/main" id="{A330F768-6149-924A-A6C1-C67622648341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5C8C796F-2CF9-A545-B362-62B5FE55C56E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17" name="直線接點 14">
            <a:extLst>
              <a:ext uri="{FF2B5EF4-FFF2-40B4-BE49-F238E27FC236}">
                <a16:creationId xmlns:a16="http://schemas.microsoft.com/office/drawing/2014/main" id="{C322ED6B-6D58-F94B-9F6B-9AA2A6E5BA88}"/>
              </a:ext>
            </a:extLst>
          </p:cNvPr>
          <p:cNvSpPr/>
          <p:nvPr userDrawn="1"/>
        </p:nvSpPr>
        <p:spPr>
          <a:xfrm>
            <a:off x="4572000" y="1448120"/>
            <a:ext cx="0" cy="4398976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F0C619F2-238D-2A4C-BA0A-2E6F24F242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5" name="內容版面配置區 2"/>
          <p:cNvSpPr>
            <a:spLocks noGrp="1"/>
          </p:cNvSpPr>
          <p:nvPr>
            <p:ph sz="half" idx="1"/>
          </p:nvPr>
        </p:nvSpPr>
        <p:spPr>
          <a:xfrm>
            <a:off x="319201" y="989075"/>
            <a:ext cx="4139318" cy="53170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50"/>
              </a:spcBef>
              <a:defRPr lang="zh-TW" altLang="en-US" sz="24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  <a:sym typeface="Calibri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marL="257175" marR="0" lvl="0" indent="-257175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</a:pPr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  <p:sp>
        <p:nvSpPr>
          <p:cNvPr id="23" name="日期版面配置區 3"/>
          <p:cNvSpPr>
            <a:spLocks noGrp="1"/>
          </p:cNvSpPr>
          <p:nvPr>
            <p:ph type="dt" sz="half" idx="2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6EE6BEA6-2132-493E-8E24-60BAB5BAA7F6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24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2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4E893080-4FB8-2F46-B213-4D671A3A0C4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685482" y="989075"/>
            <a:ext cx="4139318" cy="53170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50"/>
              </a:spcBef>
              <a:defRPr lang="zh-TW" altLang="en-US" sz="24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  <a:sym typeface="Calibri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marL="257175" marR="0" lvl="0" indent="-257175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</a:pPr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9962825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圖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直線接點 14">
            <a:extLst>
              <a:ext uri="{FF2B5EF4-FFF2-40B4-BE49-F238E27FC236}">
                <a16:creationId xmlns:a16="http://schemas.microsoft.com/office/drawing/2014/main" id="{F2F1C9D7-B14F-BF44-A3D8-5D47EC083EA5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20" name="矩形 11">
            <a:extLst>
              <a:ext uri="{FF2B5EF4-FFF2-40B4-BE49-F238E27FC236}">
                <a16:creationId xmlns:a16="http://schemas.microsoft.com/office/drawing/2014/main" id="{91411F00-9741-7A4E-AB31-166F620DF2B5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8871092C-009C-2E45-9D9A-839D67AC87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6" name="內容版面配置區 2"/>
          <p:cNvSpPr>
            <a:spLocks noGrp="1"/>
          </p:cNvSpPr>
          <p:nvPr>
            <p:ph idx="1"/>
          </p:nvPr>
        </p:nvSpPr>
        <p:spPr>
          <a:xfrm>
            <a:off x="4360333" y="964962"/>
            <a:ext cx="4197556" cy="52604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50"/>
              </a:spcBef>
              <a:defRPr lang="zh-TW" altLang="en-US" sz="24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  <a:sym typeface="Calibri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971675" indent="-325754">
              <a:lnSpc>
                <a:spcPct val="100000"/>
              </a:lnSpc>
              <a:spcBef>
                <a:spcPts val="450"/>
              </a:spcBef>
              <a:buFont typeface="標楷體" panose="03000509000000000000" pitchFamily="65" charset="-120"/>
              <a:buChar char="・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marL="257175" marR="0" lvl="0" indent="-257175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</a:pPr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1664E0-D70F-D742-8018-75D275C475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2600" y="962300"/>
            <a:ext cx="3778250" cy="52632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23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3F2DB263-811F-4EB9-8788-812849A24E5B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24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2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206617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三圖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A0227C9-5E4C-8B48-A86F-0C0BA5868C1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35962" y="1059114"/>
            <a:ext cx="1412255" cy="1765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0D92FBA-C15C-9349-9B5B-D5C82C91C4B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358931" y="2852966"/>
            <a:ext cx="1412255" cy="1765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D6A235B-D7AD-8141-B9A5-2C89865A91A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942313" y="4644743"/>
            <a:ext cx="1412255" cy="1765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23" name="直線接點 14">
            <a:extLst>
              <a:ext uri="{FF2B5EF4-FFF2-40B4-BE49-F238E27FC236}">
                <a16:creationId xmlns:a16="http://schemas.microsoft.com/office/drawing/2014/main" id="{DB869952-2826-214A-87EB-42327D080B3D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24" name="矩形 11">
            <a:extLst>
              <a:ext uri="{FF2B5EF4-FFF2-40B4-BE49-F238E27FC236}">
                <a16:creationId xmlns:a16="http://schemas.microsoft.com/office/drawing/2014/main" id="{904C9CCE-9A97-C044-94A5-C7EE14A47D81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609152E6-FF60-9148-9D0C-C2386E7F4C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17" name="內容版面配置區 2"/>
          <p:cNvSpPr>
            <a:spLocks noGrp="1"/>
          </p:cNvSpPr>
          <p:nvPr>
            <p:ph idx="1"/>
          </p:nvPr>
        </p:nvSpPr>
        <p:spPr>
          <a:xfrm>
            <a:off x="4428066" y="1059113"/>
            <a:ext cx="4106334" cy="5248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50"/>
              </a:spcBef>
              <a:defRPr lang="zh-TW" altLang="en-US" sz="24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  <a:sym typeface="Calibri"/>
              </a:defRPr>
            </a:lvl1pPr>
            <a:lvl2pPr marL="698911" indent="-28743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 lang="zh-TW" altLang="en-US" sz="20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2pPr>
            <a:lvl3pPr marL="1092549" indent="-269590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n"/>
              <a:defRPr lang="zh-TW" altLang="en-US" sz="18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3pPr>
            <a:lvl4pPr marL="1560195" indent="-325754">
              <a:lnSpc>
                <a:spcPct val="100000"/>
              </a:lnSpc>
              <a:spcBef>
                <a:spcPts val="450"/>
              </a:spcBef>
              <a:buFont typeface="Wingdings" panose="05000000000000000000" pitchFamily="2" charset="2"/>
              <a:buChar char="ü"/>
              <a:defRPr lang="zh-TW" altLang="en-US" sz="1600" b="0" i="0" u="none" strike="noStrike" cap="none" spc="0" baseline="0" dirty="0" smtClean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4pPr>
            <a:lvl5pPr marL="1860233" indent="-214313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lang="zh-TW" altLang="en-US" sz="16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+mn-cs"/>
                <a:sym typeface="Calibri"/>
              </a:defRPr>
            </a:lvl5pPr>
          </a:lstStyle>
          <a:p>
            <a:pPr marL="257175" marR="0" lvl="0" indent="-257175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</a:pPr>
            <a:r>
              <a:rPr lang="zh-TW" altLang="en-US" dirty="0"/>
              <a:t>按一下以編輯母片文字樣式</a:t>
            </a:r>
          </a:p>
          <a:p>
            <a:pPr marL="698911" marR="0" lvl="1" indent="-28743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l"/>
              <a:tabLst/>
            </a:pPr>
            <a:r>
              <a:rPr lang="zh-TW" altLang="en-US" dirty="0"/>
              <a:t>第二層</a:t>
            </a:r>
          </a:p>
          <a:p>
            <a:pPr marL="1092549" marR="0" lvl="2" indent="-269590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  <a:tabLst/>
            </a:pPr>
            <a:r>
              <a:rPr lang="zh-TW" altLang="en-US" dirty="0"/>
              <a:t>第三層</a:t>
            </a:r>
          </a:p>
          <a:p>
            <a:pPr marL="1560195" marR="0" lvl="3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zh-TW" altLang="en-US" dirty="0"/>
              <a:t>第四層</a:t>
            </a:r>
          </a:p>
          <a:p>
            <a:pPr marL="1971675" marR="0" lvl="4" indent="-325754" algn="l" defTabSz="411480" rtl="0" latinLnBrk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 typeface="微軟正黑體" panose="020B0604030504040204" pitchFamily="34" charset="-120"/>
              <a:buChar char="‐"/>
              <a:tabLst/>
            </a:pPr>
            <a:r>
              <a:rPr lang="zh-TW" altLang="en-US" dirty="0"/>
              <a:t>第五層</a:t>
            </a:r>
          </a:p>
        </p:txBody>
      </p:sp>
      <p:sp>
        <p:nvSpPr>
          <p:cNvPr id="21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2F3772C8-27CB-4B29-B1B6-3913F64A2D7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22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2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5106424"/>
      </p:ext>
    </p:extLst>
  </p:cSld>
  <p:clrMapOvr>
    <a:masterClrMapping/>
  </p:clrMapOvr>
  <p:transition spd="med"/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圖四字交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AF63BB0-08A7-9449-AB5D-D1C6103DB8E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408652" y="924570"/>
            <a:ext cx="1891673" cy="2524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</a:t>
            </a:r>
            <a:r>
              <a:rPr lang="ko-KR" altLang="en-US" dirty="0"/>
              <a:t>插入圖片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049C642-1CB7-724D-A118-62C54A80F09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54045" y="3449110"/>
            <a:ext cx="1891673" cy="2524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51FE918-3775-B240-A139-659318B989D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2648330" y="924571"/>
            <a:ext cx="1903257" cy="2524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按一下以插入</a:t>
            </a:r>
            <a:r>
              <a:rPr lang="ko-KR" altLang="en-US" dirty="0"/>
              <a:t>圖片</a:t>
            </a:r>
          </a:p>
        </p:txBody>
      </p:sp>
      <p:sp>
        <p:nvSpPr>
          <p:cNvPr id="21" name="文字版面配置區 27">
            <a:extLst>
              <a:ext uri="{FF2B5EF4-FFF2-40B4-BE49-F238E27FC236}">
                <a16:creationId xmlns:a16="http://schemas.microsoft.com/office/drawing/2014/main" id="{83A6288A-801A-BD47-9889-546288D52E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4045" y="924571"/>
            <a:ext cx="1891673" cy="2524539"/>
          </a:xfrm>
          <a:prstGeom prst="rect">
            <a:avLst/>
          </a:prstGeom>
        </p:spPr>
        <p:txBody>
          <a:bodyPr/>
          <a:lstStyle>
            <a:lvl1pPr marL="0" marR="0" indent="0" algn="l" defTabSz="411480" rtl="0" eaLnBrk="1" fontAlgn="auto" latinLnBrk="0" hangingPunct="1">
              <a:lnSpc>
                <a:spcPct val="15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0" baseline="0">
                <a:solidFill>
                  <a:srgbClr val="1025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按一下以新增文字</a:t>
            </a:r>
          </a:p>
        </p:txBody>
      </p:sp>
      <p:sp>
        <p:nvSpPr>
          <p:cNvPr id="22" name="文字版面配置區 27">
            <a:extLst>
              <a:ext uri="{FF2B5EF4-FFF2-40B4-BE49-F238E27FC236}">
                <a16:creationId xmlns:a16="http://schemas.microsoft.com/office/drawing/2014/main" id="{D10FC3BD-F371-1840-A1FB-ADB7B3963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53329" y="924571"/>
            <a:ext cx="1851693" cy="2524539"/>
          </a:xfrm>
          <a:prstGeom prst="rect">
            <a:avLst/>
          </a:prstGeom>
        </p:spPr>
        <p:txBody>
          <a:bodyPr/>
          <a:lstStyle>
            <a:lvl1pPr marL="0" marR="0" indent="0" algn="l" defTabSz="411480" rtl="0" eaLnBrk="1" fontAlgn="auto" latinLnBrk="0" hangingPunct="1">
              <a:lnSpc>
                <a:spcPct val="15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0" baseline="0">
                <a:solidFill>
                  <a:srgbClr val="1025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按一下以新增文字</a:t>
            </a:r>
          </a:p>
        </p:txBody>
      </p:sp>
      <p:sp>
        <p:nvSpPr>
          <p:cNvPr id="23" name="文字版面配置區 27">
            <a:extLst>
              <a:ext uri="{FF2B5EF4-FFF2-40B4-BE49-F238E27FC236}">
                <a16:creationId xmlns:a16="http://schemas.microsoft.com/office/drawing/2014/main" id="{2A211799-38C0-C04E-B34C-213A8F2D6D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7985" y="3449110"/>
            <a:ext cx="1904999" cy="2524539"/>
          </a:xfrm>
          <a:prstGeom prst="rect">
            <a:avLst/>
          </a:prstGeom>
        </p:spPr>
        <p:txBody>
          <a:bodyPr/>
          <a:lstStyle>
            <a:lvl1pPr marL="0" marR="0" indent="0" algn="l" defTabSz="411480" rtl="0" eaLnBrk="1" fontAlgn="auto" latinLnBrk="0" hangingPunct="1">
              <a:lnSpc>
                <a:spcPct val="15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0" baseline="0">
                <a:solidFill>
                  <a:srgbClr val="1025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按一下以新增文字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711664E0-D70F-D742-8018-75D275C47548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4554243" y="3449110"/>
            <a:ext cx="1851694" cy="2524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ctr" defTabSz="41148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1" lang="zh-TW" altLang="en-US" dirty="0"/>
              <a:t>按一下以</a:t>
            </a:r>
            <a:r>
              <a:rPr lang="ko-KR" altLang="en-US" dirty="0"/>
              <a:t>插入圖片</a:t>
            </a:r>
          </a:p>
        </p:txBody>
      </p:sp>
      <p:sp>
        <p:nvSpPr>
          <p:cNvPr id="25" name="文字版面配置區 27">
            <a:extLst>
              <a:ext uri="{FF2B5EF4-FFF2-40B4-BE49-F238E27FC236}">
                <a16:creationId xmlns:a16="http://schemas.microsoft.com/office/drawing/2014/main" id="{3C6D48E3-6E2C-A947-9BDE-6F3935293D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8593" y="3449110"/>
            <a:ext cx="1891674" cy="2524539"/>
          </a:xfrm>
          <a:prstGeom prst="rect">
            <a:avLst/>
          </a:prstGeom>
        </p:spPr>
        <p:txBody>
          <a:bodyPr/>
          <a:lstStyle>
            <a:lvl1pPr marL="0" marR="0" indent="0" algn="l" defTabSz="411480" rtl="0" eaLnBrk="1" fontAlgn="auto" latinLnBrk="0" hangingPunct="1">
              <a:lnSpc>
                <a:spcPct val="150000"/>
              </a:lnSpc>
              <a:spcBef>
                <a:spcPts val="675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0" baseline="0">
                <a:solidFill>
                  <a:srgbClr val="1025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按一下以新增文字</a:t>
            </a:r>
          </a:p>
        </p:txBody>
      </p:sp>
      <p:sp>
        <p:nvSpPr>
          <p:cNvPr id="29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763148E0-D83E-4A68-A357-78DB98C8C5C0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30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3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062665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留標題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14">
            <a:extLst>
              <a:ext uri="{FF2B5EF4-FFF2-40B4-BE49-F238E27FC236}">
                <a16:creationId xmlns:a16="http://schemas.microsoft.com/office/drawing/2014/main" id="{A330F768-6149-924A-A6C1-C67622648341}"/>
              </a:ext>
            </a:extLst>
          </p:cNvPr>
          <p:cNvSpPr/>
          <p:nvPr userDrawn="1"/>
        </p:nvSpPr>
        <p:spPr>
          <a:xfrm flipV="1">
            <a:off x="319201" y="750960"/>
            <a:ext cx="8441889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txBody>
          <a:bodyPr lIns="34289" tIns="34289" rIns="34289" bIns="34289"/>
          <a:lstStyle/>
          <a:p>
            <a:endParaRPr sz="165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5C8C796F-2CF9-A545-B362-62B5FE55C56E}"/>
              </a:ext>
            </a:extLst>
          </p:cNvPr>
          <p:cNvSpPr/>
          <p:nvPr userDrawn="1"/>
        </p:nvSpPr>
        <p:spPr>
          <a:xfrm>
            <a:off x="319201" y="206623"/>
            <a:ext cx="81584" cy="471577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650"/>
          </a:p>
        </p:txBody>
      </p:sp>
      <p:sp>
        <p:nvSpPr>
          <p:cNvPr id="11" name="文字版面配置區 2">
            <a:extLst>
              <a:ext uri="{FF2B5EF4-FFF2-40B4-BE49-F238E27FC236}">
                <a16:creationId xmlns:a16="http://schemas.microsoft.com/office/drawing/2014/main" id="{5F811C09-FA9A-3841-9E2A-C8921098D3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683" y="206622"/>
            <a:ext cx="8328407" cy="4714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rgbClr val="1E70C0"/>
                </a:solidFill>
              </a:defRPr>
            </a:lvl1pPr>
          </a:lstStyle>
          <a:p>
            <a:r>
              <a:rPr kumimoji="1" lang="zh-TW" altLang="en-US" dirty="0"/>
              <a:t>按一下以新增標題</a:t>
            </a:r>
          </a:p>
        </p:txBody>
      </p:sp>
      <p:sp>
        <p:nvSpPr>
          <p:cNvPr id="20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2D3274A9-6B23-4B9F-B43B-487BA5B060CF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21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2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2996529"/>
      </p:ext>
    </p:extLst>
  </p:cSld>
  <p:clrMapOvr>
    <a:masterClrMapping/>
  </p:clrMapOvr>
  <p:transition spd="med"/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頁_含底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758A5C99-80C3-4AAA-A90B-22E7E80456EA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4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060686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空白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A947F553-D35E-4FC0-A150-8587477A3954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2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3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894136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末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17EEEA4-2DA3-7D40-9374-4988E6FAA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34" y="5391543"/>
            <a:ext cx="8022566" cy="1482745"/>
          </a:xfrm>
          <a:prstGeom prst="rect">
            <a:avLst/>
          </a:prstGeom>
        </p:spPr>
      </p:pic>
      <p:sp>
        <p:nvSpPr>
          <p:cNvPr id="2" name="文字方塊 1"/>
          <p:cNvSpPr txBox="1"/>
          <p:nvPr userDrawn="1"/>
        </p:nvSpPr>
        <p:spPr>
          <a:xfrm>
            <a:off x="892155" y="3086599"/>
            <a:ext cx="5450067" cy="684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marL="0" marR="0" indent="0" algn="l" defTabSz="82292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1" cap="all" dirty="0">
                <a:solidFill>
                  <a:srgbClr val="0070C0"/>
                </a:solidFill>
                <a:cs typeface="華康黑體 Std W5"/>
              </a:rPr>
              <a:t>謝謝聆聽，敬請指導</a:t>
            </a:r>
            <a:endParaRPr kumimoji="0" lang="zh-TW" altLang="en-US" sz="40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9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D11E7370-3974-4544-A3E4-C65225551CA9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21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2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7" name="圖片 12" descr="圖片 12">
            <a:extLst>
              <a:ext uri="{FF2B5EF4-FFF2-40B4-BE49-F238E27FC236}">
                <a16:creationId xmlns:a16="http://schemas.microsoft.com/office/drawing/2014/main" id="{22F0CA8B-6B3B-324E-A110-1D394ED835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55" y="710910"/>
            <a:ext cx="3130392" cy="60182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87207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17290" y="6367044"/>
            <a:ext cx="843644" cy="507888"/>
          </a:xfrm>
          <a:prstGeom prst="rect">
            <a:avLst/>
          </a:prstGeom>
        </p:spPr>
      </p:pic>
      <p:sp>
        <p:nvSpPr>
          <p:cNvPr id="3" name="大標題文字"/>
          <p:cNvSpPr txBox="1">
            <a:spLocks noGrp="1"/>
          </p:cNvSpPr>
          <p:nvPr>
            <p:ph type="title"/>
          </p:nvPr>
        </p:nvSpPr>
        <p:spPr>
          <a:xfrm>
            <a:off x="914399" y="769938"/>
            <a:ext cx="73152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/>
          <a:lstStyle/>
          <a:p>
            <a:r>
              <a:rPr dirty="0" err="1"/>
              <a:t>大標題文字</a:t>
            </a:r>
            <a:endParaRPr dirty="0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" y="6502420"/>
            <a:ext cx="2405903" cy="365125"/>
          </a:xfrm>
          <a:prstGeom prst="rect">
            <a:avLst/>
          </a:prstGeom>
        </p:spPr>
        <p:txBody>
          <a:bodyPr anchor="b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BD4E87B7-3498-4C46-AC2A-2ED0F815BC91}" type="datetime1">
              <a:rPr lang="zh-TW" altLang="en-US" smtClean="0"/>
              <a:pPr/>
              <a:t>2022/3/15</a:t>
            </a:fld>
            <a:endParaRPr lang="zh-TW" altLang="en-US" dirty="0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470149" y="6502420"/>
            <a:ext cx="4249918" cy="365125"/>
          </a:xfrm>
          <a:prstGeom prst="rect">
            <a:avLst/>
          </a:prstGeom>
        </p:spPr>
        <p:txBody>
          <a:bodyPr anchor="b"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endParaRPr lang="zh-TW" altLang="en-US" dirty="0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  <a:prstGeom prst="rect">
            <a:avLst/>
          </a:prstGeom>
        </p:spPr>
        <p:txBody>
          <a:bodyPr anchor="b"/>
          <a:lstStyle>
            <a:lvl1pPr algn="r">
              <a:tabLst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CBE36A95-2CE2-4055-AD5A-A0921D347A1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7" r:id="rId3"/>
    <p:sldLayoutId id="2147483685" r:id="rId4"/>
    <p:sldLayoutId id="2147483683" r:id="rId5"/>
    <p:sldLayoutId id="2147483660" r:id="rId6"/>
    <p:sldLayoutId id="2147483661" r:id="rId7"/>
    <p:sldLayoutId id="2147483652" r:id="rId8"/>
    <p:sldLayoutId id="2147483654" r:id="rId9"/>
    <p:sldLayoutId id="2147483656" r:id="rId10"/>
    <p:sldLayoutId id="2147483667" r:id="rId11"/>
    <p:sldLayoutId id="2147483676" r:id="rId12"/>
    <p:sldLayoutId id="2147483658" r:id="rId13"/>
    <p:sldLayoutId id="2147483684" r:id="rId14"/>
  </p:sldLayoutIdLst>
  <p:transition spd="med"/>
  <p:hf hdr="0" ftr="0" dt="0"/>
  <p:txStyles>
    <p:titleStyle>
      <a:lvl1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1pPr>
      <a:lvl2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11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75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0" marR="0" indent="0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None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1pPr>
      <a:lvl2pPr marL="698911" marR="0" indent="-287430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–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2pPr>
      <a:lvl3pPr marL="1092549" marR="0" indent="-269590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•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3pPr>
      <a:lvl4pPr marL="1560195" marR="0" indent="-325754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–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4pPr>
      <a:lvl5pPr marL="1971675" marR="0" indent="-325754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»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Microsoft JhengHei" panose="020B0604030504040204" pitchFamily="34" charset="-120"/>
          <a:ea typeface="Microsoft JhengHei" panose="020B0604030504040204" pitchFamily="34" charset="-120"/>
          <a:cs typeface="+mn-cs"/>
          <a:sym typeface="Calibri"/>
        </a:defRPr>
      </a:lvl5pPr>
      <a:lvl6pPr marL="2383154" marR="0" indent="-325754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•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2794634" marR="0" indent="-325755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•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206115" marR="0" indent="-325755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•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3617594" marR="0" indent="-325755" algn="l" defTabSz="411480" rtl="0" latinLnBrk="0">
        <a:lnSpc>
          <a:spcPct val="100000"/>
        </a:lnSpc>
        <a:spcBef>
          <a:spcPts val="675"/>
        </a:spcBef>
        <a:spcAft>
          <a:spcPts val="0"/>
        </a:spcAft>
        <a:buClrTx/>
        <a:buSzPct val="100000"/>
        <a:buFont typeface="Arial"/>
        <a:buChar char="•"/>
        <a:tabLst/>
        <a:defRPr sz="28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822927" rtl="0" fontAlgn="ctr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82292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0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AD308E8-68ED-2C46-BC56-14A5121D12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zh-TW" altLang="en-US" dirty="0"/>
              <a:t>造市策略研究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576701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前言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7999156" cy="5342466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觀察市場於特定短暫時間（</a:t>
            </a:r>
            <a:r>
              <a:rPr kumimoji="1" lang="en-US" altLang="zh-TW" dirty="0"/>
              <a:t>10min</a:t>
            </a:r>
            <a:r>
              <a:rPr kumimoji="1" lang="zh-TW" altLang="en-US" dirty="0"/>
              <a:t>），期貨價格呈現正負</a:t>
            </a:r>
            <a:r>
              <a:rPr kumimoji="1" lang="en-US" altLang="zh-TW" dirty="0"/>
              <a:t>20</a:t>
            </a:r>
            <a:r>
              <a:rPr kumimoji="1" lang="zh-TW" altLang="en-US" dirty="0"/>
              <a:t>點變動，因此於上下方大量掛單，執行造市策略，可能可以賺取點差</a:t>
            </a:r>
            <a:endParaRPr kumimoji="1" lang="en-US" altLang="zh-TW" dirty="0"/>
          </a:p>
          <a:p>
            <a:r>
              <a:rPr kumimoji="1" lang="zh-TW" altLang="en-US" dirty="0"/>
              <a:t>然而造市策略非常容易受到</a:t>
            </a:r>
            <a:r>
              <a:rPr kumimoji="1" lang="zh-TW" altLang="en-US" dirty="0">
                <a:solidFill>
                  <a:srgbClr val="FF0000"/>
                </a:solidFill>
              </a:rPr>
              <a:t>短期趨勢</a:t>
            </a:r>
            <a:r>
              <a:rPr kumimoji="1" lang="zh-TW" altLang="en-US" dirty="0"/>
              <a:t>影響，我還沒想到用波動度建模出可行的造市策略</a:t>
            </a:r>
            <a:endParaRPr kumimoji="1" lang="en-US" altLang="zh-TW" dirty="0"/>
          </a:p>
          <a:p>
            <a:r>
              <a:rPr kumimoji="1" lang="zh-TW" altLang="en-US" dirty="0"/>
              <a:t>於是我以市場微結構角度觀察期貨價格形成機制，發現潛在交易訊號隱藏在訂單流時間序列</a:t>
            </a:r>
            <a:endParaRPr kumimoji="1" lang="en-US" altLang="zh-TW" dirty="0"/>
          </a:p>
          <a:p>
            <a:r>
              <a:rPr kumimoji="1" lang="zh-TW" altLang="en-US" dirty="0"/>
              <a:t>一些發現：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交易不是那麼熱絡的時候，</a:t>
            </a:r>
            <a:r>
              <a:rPr kumimoji="1" lang="en-US" altLang="zh-TW" dirty="0"/>
              <a:t>spread</a:t>
            </a:r>
            <a:r>
              <a:rPr kumimoji="1" lang="zh-TW" altLang="en-US" dirty="0"/>
              <a:t>由</a:t>
            </a:r>
            <a:r>
              <a:rPr kumimoji="1" lang="en-US" altLang="zh-TW" dirty="0"/>
              <a:t>3-&gt;2 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2-&gt;1 </a:t>
            </a:r>
            <a:r>
              <a:rPr kumimoji="1" lang="zh-TW" altLang="en-US" dirty="0"/>
              <a:t>的方向可能有預測市場趨勢的可能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然而</a:t>
            </a:r>
            <a:r>
              <a:rPr kumimoji="1" lang="en-US" altLang="zh-TW" dirty="0"/>
              <a:t>spread</a:t>
            </a:r>
            <a:r>
              <a:rPr kumimoji="1" lang="zh-TW" altLang="en-US" dirty="0"/>
              <a:t>由</a:t>
            </a:r>
            <a:r>
              <a:rPr kumimoji="1" lang="en-US" altLang="zh-TW" dirty="0"/>
              <a:t>1-&gt;2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2-&gt;3</a:t>
            </a:r>
            <a:r>
              <a:rPr kumimoji="1" lang="zh-TW" altLang="en-US" dirty="0"/>
              <a:t>不具方向性預測能力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價格由平穩態急速探底的時候基本上都是人為製造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投機者拉抬價格的規律</a:t>
            </a: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1665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識別強趨勢訊號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7999156" cy="5342466"/>
          </a:xfrm>
        </p:spPr>
        <p:txBody>
          <a:bodyPr/>
          <a:lstStyle/>
          <a:p>
            <a:r>
              <a:rPr kumimoji="1" lang="zh-TW" altLang="en-US" dirty="0"/>
              <a:t>成交訂單流於平穩時間段約為</a:t>
            </a:r>
            <a:r>
              <a:rPr kumimoji="1" lang="en-US" altLang="zh-TW" dirty="0"/>
              <a:t>1</a:t>
            </a:r>
            <a:r>
              <a:rPr kumimoji="1" lang="zh-TW" altLang="en-US" dirty="0"/>
              <a:t>秒出現</a:t>
            </a:r>
            <a:r>
              <a:rPr kumimoji="1" lang="en-US" altLang="zh-TW" dirty="0"/>
              <a:t>2</a:t>
            </a:r>
            <a:r>
              <a:rPr kumimoji="1" lang="zh-TW" altLang="en-US" dirty="0"/>
              <a:t>或</a:t>
            </a:r>
            <a:r>
              <a:rPr kumimoji="1" lang="en-US" altLang="zh-TW" dirty="0"/>
              <a:t>3</a:t>
            </a:r>
            <a:r>
              <a:rPr kumimoji="1" lang="zh-TW" altLang="en-US" dirty="0"/>
              <a:t>個多空單，期貨價格之所以出現變化通常是由程式下達的市價單形成</a:t>
            </a:r>
            <a:endParaRPr kumimoji="1" lang="en-US" altLang="zh-TW" dirty="0"/>
          </a:p>
          <a:p>
            <a:r>
              <a:rPr kumimoji="1" lang="zh-TW" altLang="en-US" dirty="0"/>
              <a:t>投機者往往會將大單利用程式，拆分成小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高頻交易單，根據拆法可以識別強趨勢訊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號是真的或假的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zh-TW" altLang="en-US" dirty="0"/>
              <a:t>我發現日盤出現一排紅</a:t>
            </a:r>
            <a:r>
              <a:rPr kumimoji="1" lang="en-US" altLang="zh-TW" dirty="0"/>
              <a:t>1</a:t>
            </a:r>
            <a:r>
              <a:rPr kumimoji="1" lang="zh-TW" altLang="en-US" dirty="0"/>
              <a:t>或綠</a:t>
            </a:r>
            <a:r>
              <a:rPr kumimoji="1" lang="en-US" altLang="zh-TW" dirty="0"/>
              <a:t>1</a:t>
            </a:r>
            <a:r>
              <a:rPr kumimoji="1" lang="zh-TW" altLang="en-US" dirty="0"/>
              <a:t>往往不會滑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價，甚至會是價格趨勢的反指標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停損 停利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試盤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識別冰山訂單是否存在，透過刷一排</a:t>
            </a:r>
            <a:r>
              <a:rPr kumimoji="1" lang="en-US" altLang="zh-TW" dirty="0"/>
              <a:t>1</a:t>
            </a:r>
            <a:r>
              <a:rPr kumimoji="1" lang="zh-TW" altLang="en-US" dirty="0"/>
              <a:t>看一下</a:t>
            </a:r>
            <a:endParaRPr kumimoji="1" lang="en-US" altLang="zh-TW" dirty="0"/>
          </a:p>
          <a:p>
            <a:pPr marL="822959" lvl="2" indent="0">
              <a:buNone/>
            </a:pPr>
            <a:r>
              <a:rPr kumimoji="1" lang="zh-TW" altLang="en-US" dirty="0"/>
              <a:t>     委買、委賣出現多少新單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真的想做多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pic>
        <p:nvPicPr>
          <p:cNvPr id="1026" name="Picture 2" descr="未提供說明。">
            <a:extLst>
              <a:ext uri="{FF2B5EF4-FFF2-40B4-BE49-F238E27FC236}">
                <a16:creationId xmlns:a16="http://schemas.microsoft.com/office/drawing/2014/main" id="{5686165A-4264-4552-8274-BFE8FF088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783" y="1814052"/>
            <a:ext cx="2166412" cy="497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4585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識別強趨勢訊號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7999156" cy="5342466"/>
          </a:xfrm>
        </p:spPr>
        <p:txBody>
          <a:bodyPr/>
          <a:lstStyle/>
          <a:p>
            <a:r>
              <a:rPr kumimoji="1" lang="zh-TW" altLang="en-US" dirty="0"/>
              <a:t>投機者試圖製造趨勢時，其高頻單拆法會於一連串</a:t>
            </a:r>
            <a:r>
              <a:rPr kumimoji="1" lang="en-US" altLang="zh-TW" dirty="0"/>
              <a:t>1</a:t>
            </a:r>
            <a:r>
              <a:rPr kumimoji="1" lang="zh-TW" altLang="en-US" dirty="0"/>
              <a:t>之間加入比較大的數字（例如</a:t>
            </a:r>
            <a:r>
              <a:rPr kumimoji="1" lang="en-US" altLang="zh-TW" dirty="0"/>
              <a:t>11</a:t>
            </a:r>
            <a:r>
              <a:rPr kumimoji="1" lang="zh-TW" altLang="en-US" dirty="0"/>
              <a:t>），大概於</a:t>
            </a:r>
            <a:r>
              <a:rPr kumimoji="1" lang="en-US" altLang="zh-TW" dirty="0"/>
              <a:t>30</a:t>
            </a:r>
            <a:r>
              <a:rPr kumimoji="1" lang="zh-TW" altLang="en-US" dirty="0"/>
              <a:t>秒後投機者會觀察趨勢是否製造成功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pic>
        <p:nvPicPr>
          <p:cNvPr id="2050" name="Picture 2" descr="未提供說明。">
            <a:extLst>
              <a:ext uri="{FF2B5EF4-FFF2-40B4-BE49-F238E27FC236}">
                <a16:creationId xmlns:a16="http://schemas.microsoft.com/office/drawing/2014/main" id="{AF54B872-63DE-4BEC-92CF-F4194BD5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84" y="2330097"/>
            <a:ext cx="1883001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未提供說明。">
            <a:extLst>
              <a:ext uri="{FF2B5EF4-FFF2-40B4-BE49-F238E27FC236}">
                <a16:creationId xmlns:a16="http://schemas.microsoft.com/office/drawing/2014/main" id="{8F95CCA0-BA9E-4690-9157-2501202C1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81" y="2330236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未提供說明。">
            <a:extLst>
              <a:ext uri="{FF2B5EF4-FFF2-40B4-BE49-F238E27FC236}">
                <a16:creationId xmlns:a16="http://schemas.microsoft.com/office/drawing/2014/main" id="{A8F50230-CB6F-4640-B99A-2DCD3F3D0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099" y="2330238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未提供說明。">
            <a:extLst>
              <a:ext uri="{FF2B5EF4-FFF2-40B4-BE49-F238E27FC236}">
                <a16:creationId xmlns:a16="http://schemas.microsoft.com/office/drawing/2014/main" id="{B4A50416-059C-4E00-8CD3-5F77178CB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655" y="2325246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8459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識別強趨勢訊號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7999156" cy="5342466"/>
          </a:xfrm>
        </p:spPr>
        <p:txBody>
          <a:bodyPr/>
          <a:lstStyle/>
          <a:p>
            <a:r>
              <a:rPr kumimoji="1" lang="zh-TW" altLang="en-US" dirty="0"/>
              <a:t>投機者試圖製造趨勢時，其高頻單拆法會於一連串</a:t>
            </a:r>
            <a:r>
              <a:rPr kumimoji="1" lang="en-US" altLang="zh-TW" dirty="0"/>
              <a:t>1</a:t>
            </a:r>
            <a:r>
              <a:rPr kumimoji="1" lang="zh-TW" altLang="en-US" dirty="0"/>
              <a:t>之間加入比較大的數字（例如</a:t>
            </a:r>
            <a:r>
              <a:rPr kumimoji="1" lang="en-US" altLang="zh-TW" dirty="0"/>
              <a:t>11</a:t>
            </a:r>
            <a:r>
              <a:rPr kumimoji="1" lang="zh-TW" altLang="en-US" dirty="0"/>
              <a:t>），大概於</a:t>
            </a:r>
            <a:r>
              <a:rPr kumimoji="1" lang="en-US" altLang="zh-TW" dirty="0"/>
              <a:t>30</a:t>
            </a:r>
            <a:r>
              <a:rPr kumimoji="1" lang="zh-TW" altLang="en-US" dirty="0"/>
              <a:t>秒後投機者會觀察趨勢是否製造成功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由</a:t>
            </a:r>
            <a:r>
              <a:rPr kumimoji="1" lang="en-US" altLang="zh-TW" dirty="0"/>
              <a:t>58</a:t>
            </a:r>
            <a:r>
              <a:rPr kumimoji="1" lang="zh-TW" altLang="en-US" dirty="0"/>
              <a:t>拉抬至</a:t>
            </a:r>
            <a:r>
              <a:rPr kumimoji="1" lang="en-US" altLang="zh-TW" dirty="0"/>
              <a:t>70</a:t>
            </a:r>
            <a:r>
              <a:rPr kumimoji="1" lang="zh-TW" altLang="en-US" dirty="0"/>
              <a:t>發現遇到阻力於是主動結束趨勢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pic>
        <p:nvPicPr>
          <p:cNvPr id="2056" name="Picture 8" descr="未提供說明。">
            <a:extLst>
              <a:ext uri="{FF2B5EF4-FFF2-40B4-BE49-F238E27FC236}">
                <a16:creationId xmlns:a16="http://schemas.microsoft.com/office/drawing/2014/main" id="{B4A50416-059C-4E00-8CD3-5F77178CB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53" y="2497310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未提供說明。">
            <a:extLst>
              <a:ext uri="{FF2B5EF4-FFF2-40B4-BE49-F238E27FC236}">
                <a16:creationId xmlns:a16="http://schemas.microsoft.com/office/drawing/2014/main" id="{6FCCC363-E0E9-46A7-ACF9-A81F36F95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826" y="2497310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未提供說明。">
            <a:extLst>
              <a:ext uri="{FF2B5EF4-FFF2-40B4-BE49-F238E27FC236}">
                <a16:creationId xmlns:a16="http://schemas.microsoft.com/office/drawing/2014/main" id="{59A6F38A-F56D-4DA8-8CD3-58DDA88D2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899" y="2497310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未提供說明。">
            <a:extLst>
              <a:ext uri="{FF2B5EF4-FFF2-40B4-BE49-F238E27FC236}">
                <a16:creationId xmlns:a16="http://schemas.microsoft.com/office/drawing/2014/main" id="{29254222-22D2-4325-861F-A35E9A538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720" y="2497310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5095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可能識別投機者進入市場的訊號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7999156" cy="5342466"/>
          </a:xfrm>
        </p:spPr>
        <p:txBody>
          <a:bodyPr/>
          <a:lstStyle/>
          <a:p>
            <a:r>
              <a:rPr kumimoji="1" lang="zh-TW" altLang="en-US" sz="1800" dirty="0"/>
              <a:t>猜測可能是投機者程式設計的問題，成交的訂單流於夜盤出現</a:t>
            </a:r>
            <a:r>
              <a:rPr kumimoji="1" lang="en-US" altLang="zh-TW" sz="1800" dirty="0"/>
              <a:t>11</a:t>
            </a:r>
            <a:r>
              <a:rPr kumimoji="1" lang="zh-TW" altLang="en-US" sz="1800" dirty="0"/>
              <a:t>的機率特別高（日盤是</a:t>
            </a:r>
            <a:r>
              <a:rPr kumimoji="1" lang="en-US" altLang="zh-TW" sz="1800" dirty="0"/>
              <a:t>22/24</a:t>
            </a:r>
            <a:r>
              <a:rPr kumimoji="1" lang="zh-TW" altLang="en-US" sz="1800" dirty="0"/>
              <a:t>機率特別高）</a:t>
            </a:r>
            <a:endParaRPr kumimoji="1" lang="en-US" altLang="zh-TW" sz="1800" dirty="0"/>
          </a:p>
          <a:p>
            <a:pPr lvl="1"/>
            <a:r>
              <a:rPr kumimoji="1" lang="zh-TW" altLang="en-US" sz="1600" dirty="0"/>
              <a:t>通常出現於製造趨勢的前半段，猜測可能是程式設計者定義一系列的門檻，決定分別給予</a:t>
            </a:r>
            <a:r>
              <a:rPr kumimoji="1" lang="en-US" altLang="zh-TW" sz="1600" dirty="0"/>
              <a:t>2</a:t>
            </a:r>
            <a:r>
              <a:rPr kumimoji="1" lang="zh-TW" altLang="en-US" sz="1600" dirty="0"/>
              <a:t>和</a:t>
            </a:r>
            <a:r>
              <a:rPr kumimoji="1" lang="en-US" altLang="zh-TW" sz="1600" dirty="0"/>
              <a:t>9</a:t>
            </a:r>
            <a:r>
              <a:rPr kumimoji="1" lang="zh-TW" altLang="en-US" sz="1600" dirty="0"/>
              <a:t>的量，而</a:t>
            </a:r>
            <a:r>
              <a:rPr kumimoji="1" lang="en-US" altLang="zh-TW" sz="1600" dirty="0"/>
              <a:t>2</a:t>
            </a:r>
            <a:r>
              <a:rPr kumimoji="1" lang="zh-TW" altLang="en-US" sz="1600" dirty="0"/>
              <a:t>和</a:t>
            </a:r>
            <a:r>
              <a:rPr kumimoji="1" lang="en-US" altLang="zh-TW" sz="1600" dirty="0"/>
              <a:t>9</a:t>
            </a:r>
            <a:r>
              <a:rPr kumimoji="1" lang="zh-TW" altLang="en-US" sz="1600" dirty="0"/>
              <a:t>的疊加就是</a:t>
            </a:r>
            <a:r>
              <a:rPr kumimoji="1" lang="en-US" altLang="zh-TW" sz="1600" dirty="0"/>
              <a:t>11</a:t>
            </a:r>
          </a:p>
          <a:p>
            <a:pPr lvl="1"/>
            <a:r>
              <a:rPr kumimoji="1" lang="zh-TW" altLang="en-US" sz="1600" dirty="0"/>
              <a:t>觀察可以發現</a:t>
            </a:r>
            <a:r>
              <a:rPr kumimoji="1" lang="en-US" altLang="zh-TW" sz="1600" dirty="0"/>
              <a:t>5</a:t>
            </a:r>
            <a:r>
              <a:rPr kumimoji="1" lang="zh-TW" altLang="en-US" sz="1600" dirty="0"/>
              <a:t>、</a:t>
            </a:r>
            <a:r>
              <a:rPr kumimoji="1" lang="en-US" altLang="zh-TW" sz="1600" dirty="0"/>
              <a:t>6</a:t>
            </a:r>
            <a:r>
              <a:rPr kumimoji="1" lang="zh-TW" altLang="en-US" sz="1600" dirty="0"/>
              <a:t>、</a:t>
            </a:r>
            <a:r>
              <a:rPr kumimoji="1" lang="en-US" altLang="zh-TW" sz="1600" dirty="0"/>
              <a:t>7</a:t>
            </a:r>
            <a:r>
              <a:rPr kumimoji="1" lang="zh-TW" altLang="en-US" sz="1600" dirty="0"/>
              <a:t>、</a:t>
            </a:r>
            <a:r>
              <a:rPr kumimoji="1" lang="en-US" altLang="zh-TW" sz="1600" dirty="0"/>
              <a:t>8</a:t>
            </a:r>
            <a:r>
              <a:rPr kumimoji="1" lang="zh-TW" altLang="en-US" sz="1600" dirty="0"/>
              <a:t>出現的頻率過低，所以基底應該是</a:t>
            </a:r>
            <a:r>
              <a:rPr kumimoji="1" lang="en-US" altLang="zh-TW" sz="1600" dirty="0"/>
              <a:t>1</a:t>
            </a:r>
            <a:r>
              <a:rPr kumimoji="1" lang="zh-TW" altLang="en-US" sz="1600" dirty="0"/>
              <a:t>、</a:t>
            </a:r>
            <a:r>
              <a:rPr kumimoji="1" lang="en-US" altLang="zh-TW" sz="1600" dirty="0"/>
              <a:t>2</a:t>
            </a:r>
            <a:r>
              <a:rPr kumimoji="1" lang="zh-TW" altLang="en-US" sz="1600" dirty="0"/>
              <a:t>、</a:t>
            </a:r>
            <a:r>
              <a:rPr kumimoji="1" lang="en-US" altLang="zh-TW" sz="1600" dirty="0"/>
              <a:t>9</a:t>
            </a:r>
          </a:p>
          <a:p>
            <a:pPr lvl="1"/>
            <a:endParaRPr kumimoji="1" lang="en-US" altLang="zh-TW" dirty="0"/>
          </a:p>
          <a:p>
            <a:pPr lvl="1"/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4098" name="Picture 2" descr="未提供說明。">
            <a:extLst>
              <a:ext uri="{FF2B5EF4-FFF2-40B4-BE49-F238E27FC236}">
                <a16:creationId xmlns:a16="http://schemas.microsoft.com/office/drawing/2014/main" id="{733BDA05-6EEB-4CFE-9BF2-57D7C04A7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83" y="2532582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未提供說明。">
            <a:extLst>
              <a:ext uri="{FF2B5EF4-FFF2-40B4-BE49-F238E27FC236}">
                <a16:creationId xmlns:a16="http://schemas.microsoft.com/office/drawing/2014/main" id="{14D49C20-9513-41BF-850B-3B8936CAC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311" y="2532582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未提供說明。">
            <a:extLst>
              <a:ext uri="{FF2B5EF4-FFF2-40B4-BE49-F238E27FC236}">
                <a16:creationId xmlns:a16="http://schemas.microsoft.com/office/drawing/2014/main" id="{D61D30BB-2C34-4FDE-9B90-5F4E7A633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340" y="2532582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未提供說明。">
            <a:extLst>
              <a:ext uri="{FF2B5EF4-FFF2-40B4-BE49-F238E27FC236}">
                <a16:creationId xmlns:a16="http://schemas.microsoft.com/office/drawing/2014/main" id="{C12B63B0-517A-42D8-A9A1-5A076BD86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369" y="2530124"/>
            <a:ext cx="188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595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AD308E8-68ED-2C46-BC56-14A5121D12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zh-TW" altLang="en-US" dirty="0"/>
              <a:t>實際統計訂單流</a:t>
            </a:r>
            <a:endParaRPr kumimoji="1" lang="en-US" altLang="zh-TW" dirty="0"/>
          </a:p>
          <a:p>
            <a:r>
              <a:rPr kumimoji="1" lang="zh-TW" altLang="en-US" dirty="0"/>
              <a:t>發現高頻訂單確實有個別特徵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85736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3/1</a:t>
            </a:r>
            <a:r>
              <a:rPr kumimoji="1" lang="zh-TW" altLang="en-US" dirty="0"/>
              <a:t>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我將期交所公布的交易明細實際統計出單量，下圖為逐筆交易統計單量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正常而言，依據人下單的實際情況單量</a:t>
            </a:r>
            <a:r>
              <a:rPr kumimoji="1" lang="en-US" altLang="zh-TW" sz="1400" dirty="0"/>
              <a:t>10</a:t>
            </a:r>
            <a:r>
              <a:rPr kumimoji="1" lang="zh-TW" altLang="en-US" sz="1400" dirty="0"/>
              <a:t>會比</a:t>
            </a:r>
            <a:r>
              <a:rPr kumimoji="1" lang="en-US" altLang="zh-TW" sz="1400" dirty="0"/>
              <a:t>9</a:t>
            </a:r>
            <a:r>
              <a:rPr kumimoji="1" lang="zh-TW" altLang="en-US" sz="1400" dirty="0"/>
              <a:t>和</a:t>
            </a:r>
            <a:r>
              <a:rPr kumimoji="1" lang="en-US" altLang="zh-TW" sz="1400" dirty="0"/>
              <a:t>11</a:t>
            </a:r>
            <a:r>
              <a:rPr kumimoji="1" lang="zh-TW" altLang="en-US" sz="1400" dirty="0"/>
              <a:t>多</a:t>
            </a:r>
            <a:endParaRPr kumimoji="1" lang="en-US" altLang="zh-TW" sz="1400" dirty="0"/>
          </a:p>
          <a:p>
            <a:endParaRPr kumimoji="1" lang="en-US" altLang="zh-TW" sz="1800" dirty="0"/>
          </a:p>
          <a:p>
            <a:endParaRPr kumimoji="1" lang="en-US" altLang="zh-TW" dirty="0"/>
          </a:p>
          <a:p>
            <a:pPr lvl="1"/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pic>
        <p:nvPicPr>
          <p:cNvPr id="9" name="圖片 8" descr="C:\Users\grant\AppData\Local\Microsoft\Windows\INetCache\Content.MSO\7AB1E92.tmp">
            <a:extLst>
              <a:ext uri="{FF2B5EF4-FFF2-40B4-BE49-F238E27FC236}">
                <a16:creationId xmlns:a16="http://schemas.microsoft.com/office/drawing/2014/main" id="{7979C4AB-8C6B-4AEB-8466-BDBC90F9299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64" y="2267373"/>
            <a:ext cx="6645910" cy="361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6403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3/10</a:t>
            </a:r>
            <a:r>
              <a:rPr kumimoji="1" lang="zh-TW" altLang="en-US" dirty="0"/>
              <a:t>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另外一方面以</a:t>
            </a:r>
            <a:r>
              <a:rPr kumimoji="1" lang="en-US" altLang="zh-TW" sz="1800" dirty="0"/>
              <a:t>3/10</a:t>
            </a:r>
            <a:r>
              <a:rPr kumimoji="1" lang="zh-TW" altLang="en-US" sz="1800" dirty="0"/>
              <a:t>號為例，左圖為逐筆交易統計單量，右圖為高頻交易成交的逐筆交易統計單量</a:t>
            </a:r>
            <a:endParaRPr kumimoji="1" lang="en-US" altLang="zh-TW" sz="1800" dirty="0"/>
          </a:p>
          <a:p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6" name="圖片 5" descr="C:\Users\grant\AppData\Local\Microsoft\Windows\INetCache\Content.MSO\8EA502D1.tmp">
            <a:extLst>
              <a:ext uri="{FF2B5EF4-FFF2-40B4-BE49-F238E27FC236}">
                <a16:creationId xmlns:a16="http://schemas.microsoft.com/office/drawing/2014/main" id="{1D30883E-8579-4FE5-ABB3-CAA7C3AD2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65" y="3187626"/>
            <a:ext cx="396745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C:\Users\grant\AppData\Local\Microsoft\Windows\INetCache\Content.MSO\DCC35E07.tmp">
            <a:extLst>
              <a:ext uri="{FF2B5EF4-FFF2-40B4-BE49-F238E27FC236}">
                <a16:creationId xmlns:a16="http://schemas.microsoft.com/office/drawing/2014/main" id="{8ACDF08E-0B4B-440E-BD41-0C41A7EFE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724" y="3187626"/>
            <a:ext cx="4058629" cy="21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91212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我將期交所公布的交易明細實際統計出單量，並只統計那些一秒內成交的逐筆交易單，發現高頻交易單確實會偏好某些數字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夜盤會偏好個別數字會更明顯，但基本上可以確定</a:t>
            </a:r>
            <a:r>
              <a:rPr kumimoji="1" lang="en-US" altLang="zh-TW" sz="1400" dirty="0"/>
              <a:t>9</a:t>
            </a:r>
            <a:r>
              <a:rPr kumimoji="1" lang="zh-TW" altLang="en-US" sz="1400" dirty="0"/>
              <a:t>出現的機會比較多</a:t>
            </a:r>
            <a:endParaRPr kumimoji="1" lang="en-US" altLang="zh-TW" sz="1800" dirty="0"/>
          </a:p>
          <a:p>
            <a:endParaRPr kumimoji="1" lang="en-US" altLang="zh-TW" dirty="0"/>
          </a:p>
          <a:p>
            <a:pPr lvl="1"/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6" name="圖片 5" descr="C:\Users\grant\AppData\Local\Microsoft\Windows\INetCache\Content.MSO\5CFD0C70.tmp">
            <a:extLst>
              <a:ext uri="{FF2B5EF4-FFF2-40B4-BE49-F238E27FC236}">
                <a16:creationId xmlns:a16="http://schemas.microsoft.com/office/drawing/2014/main" id="{3AE01C98-E7DC-46F1-A83F-33122F89DA4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1" y="2265797"/>
            <a:ext cx="39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C:\Users\grant\AppData\Local\Microsoft\Windows\INetCache\Content.MSO\2F5D0516.tmp">
            <a:extLst>
              <a:ext uri="{FF2B5EF4-FFF2-40B4-BE49-F238E27FC236}">
                <a16:creationId xmlns:a16="http://schemas.microsoft.com/office/drawing/2014/main" id="{9C1B5BFA-7948-43F9-90AE-EC85E2C8557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1" y="4573328"/>
            <a:ext cx="39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 descr="C:\Users\grant\AppData\Local\Microsoft\Windows\INetCache\Content.MSO\1889D378.tmp">
            <a:extLst>
              <a:ext uri="{FF2B5EF4-FFF2-40B4-BE49-F238E27FC236}">
                <a16:creationId xmlns:a16="http://schemas.microsoft.com/office/drawing/2014/main" id="{3C235A27-0B25-4C55-8317-74DEFB47964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5797"/>
            <a:ext cx="39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圖片 9" descr="C:\Users\grant\AppData\Local\Microsoft\Windows\INetCache\Content.MSO\59E3D25E.tmp">
            <a:extLst>
              <a:ext uri="{FF2B5EF4-FFF2-40B4-BE49-F238E27FC236}">
                <a16:creationId xmlns:a16="http://schemas.microsoft.com/office/drawing/2014/main" id="{B6FE7320-6E49-471E-9245-FF0E387EBA4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350" y="4573328"/>
            <a:ext cx="3960000" cy="21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68102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AD308E8-68ED-2C46-BC56-14A5121D12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1758" y="2581962"/>
            <a:ext cx="7904393" cy="1775353"/>
          </a:xfrm>
        </p:spPr>
        <p:txBody>
          <a:bodyPr/>
          <a:lstStyle/>
          <a:p>
            <a:r>
              <a:rPr kumimoji="1" lang="zh-TW" altLang="en-US" dirty="0"/>
              <a:t>訂單流與台指期價格形成機制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34454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C:\Users\grant\AppData\Local\Microsoft\Windows\INetCache\Content.MSO\40B5933F.tmp">
            <a:extLst>
              <a:ext uri="{FF2B5EF4-FFF2-40B4-BE49-F238E27FC236}">
                <a16:creationId xmlns:a16="http://schemas.microsoft.com/office/drawing/2014/main" id="{A2A853DA-DBF5-4346-840B-0CC0DED955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575" y="2201820"/>
            <a:ext cx="6645910" cy="37915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2022-01-18</a:t>
            </a:r>
            <a:r>
              <a:rPr kumimoji="1" lang="zh-TW" altLang="en-US" dirty="0"/>
              <a:t>交易資料為例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下圖是逐筆交易訂單的價和量，可以發現單量超過</a:t>
            </a:r>
            <a:r>
              <a:rPr kumimoji="1" lang="en-US" altLang="zh-TW" sz="1800" dirty="0"/>
              <a:t>10</a:t>
            </a:r>
            <a:r>
              <a:rPr kumimoji="1" lang="zh-TW" altLang="en-US" sz="1800" dirty="0"/>
              <a:t>的訂單在台指期價格上行或下行階段有群聚現象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若急下行階段訂單流中間夾帶極大單量，通常後續會有一波小反彈</a:t>
            </a:r>
            <a:endParaRPr kumimoji="1" lang="en-US" altLang="zh-TW" sz="1400" dirty="0"/>
          </a:p>
          <a:p>
            <a:endParaRPr kumimoji="1" lang="en-US" altLang="zh-TW" sz="1800" dirty="0"/>
          </a:p>
          <a:p>
            <a:endParaRPr kumimoji="1" lang="en-US" altLang="zh-TW" dirty="0"/>
          </a:p>
          <a:p>
            <a:pPr lvl="1"/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33DF7B-AB97-40EA-8AC0-67E97341D3A0}"/>
              </a:ext>
            </a:extLst>
          </p:cNvPr>
          <p:cNvSpPr/>
          <p:nvPr/>
        </p:nvSpPr>
        <p:spPr>
          <a:xfrm>
            <a:off x="2100412" y="2403827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422E4F-9B8D-47B2-9C28-B1C18871C4C0}"/>
              </a:ext>
            </a:extLst>
          </p:cNvPr>
          <p:cNvSpPr/>
          <p:nvPr/>
        </p:nvSpPr>
        <p:spPr>
          <a:xfrm>
            <a:off x="5814527" y="2405732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2ABF5-CB24-45CA-A1D1-E2BAD02546C0}"/>
              </a:ext>
            </a:extLst>
          </p:cNvPr>
          <p:cNvSpPr/>
          <p:nvPr/>
        </p:nvSpPr>
        <p:spPr>
          <a:xfrm>
            <a:off x="6563192" y="2416751"/>
            <a:ext cx="21145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5655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C:\Users\grant\AppData\Local\Microsoft\Windows\INetCache\Content.MSO\967A0C23.tmp">
            <a:extLst>
              <a:ext uri="{FF2B5EF4-FFF2-40B4-BE49-F238E27FC236}">
                <a16:creationId xmlns:a16="http://schemas.microsoft.com/office/drawing/2014/main" id="{F7120B6F-EF37-4E55-A6AA-8B4DB76EAF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74" y="2210585"/>
            <a:ext cx="6645910" cy="37915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2022-01-18</a:t>
            </a:r>
            <a:r>
              <a:rPr kumimoji="1" lang="zh-TW" altLang="en-US" dirty="0"/>
              <a:t>交易資料為例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下圖是逐筆交易訂單的價和量，可以發現單量超過</a:t>
            </a:r>
            <a:r>
              <a:rPr kumimoji="1" lang="en-US" altLang="zh-TW" sz="1800" dirty="0"/>
              <a:t>10</a:t>
            </a:r>
            <a:r>
              <a:rPr kumimoji="1" lang="zh-TW" altLang="en-US" sz="1800" dirty="0"/>
              <a:t>的訂單在台指期價格上行或下行階段有群聚現象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若急上行階段訂單流中間夾帶極大單量，通常後續會是一段平穩期</a:t>
            </a:r>
            <a:endParaRPr kumimoji="1" lang="en-US" altLang="zh-TW" sz="1400" dirty="0"/>
          </a:p>
          <a:p>
            <a:endParaRPr kumimoji="1" lang="en-US" altLang="zh-TW" sz="1800" dirty="0"/>
          </a:p>
          <a:p>
            <a:endParaRPr kumimoji="1" lang="en-US" altLang="zh-TW" dirty="0"/>
          </a:p>
          <a:p>
            <a:pPr lvl="1"/>
            <a:endParaRPr lang="en-US" altLang="zh-TW" dirty="0"/>
          </a:p>
          <a:p>
            <a:pPr marL="411481" lvl="1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079CD9-4CC8-49A2-8EE5-E946BA360718}"/>
              </a:ext>
            </a:extLst>
          </p:cNvPr>
          <p:cNvSpPr/>
          <p:nvPr/>
        </p:nvSpPr>
        <p:spPr>
          <a:xfrm>
            <a:off x="2065709" y="2432889"/>
            <a:ext cx="149860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4F1DB-24B5-47DD-ACBE-FA398A2F4811}"/>
              </a:ext>
            </a:extLst>
          </p:cNvPr>
          <p:cNvSpPr/>
          <p:nvPr/>
        </p:nvSpPr>
        <p:spPr>
          <a:xfrm>
            <a:off x="2503859" y="2434794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2E26DC-C620-4249-91E8-71564D591C78}"/>
              </a:ext>
            </a:extLst>
          </p:cNvPr>
          <p:cNvSpPr/>
          <p:nvPr/>
        </p:nvSpPr>
        <p:spPr>
          <a:xfrm>
            <a:off x="5273094" y="2424634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AEDA87-79F3-4F45-A53D-C34DB1B096B0}"/>
              </a:ext>
            </a:extLst>
          </p:cNvPr>
          <p:cNvSpPr/>
          <p:nvPr/>
        </p:nvSpPr>
        <p:spPr>
          <a:xfrm>
            <a:off x="2743254" y="2427809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8FEFB3-BEC6-45C1-A9BB-5D9C9D73416A}"/>
              </a:ext>
            </a:extLst>
          </p:cNvPr>
          <p:cNvSpPr/>
          <p:nvPr/>
        </p:nvSpPr>
        <p:spPr>
          <a:xfrm>
            <a:off x="3937689" y="2434794"/>
            <a:ext cx="177165" cy="3138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9002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 descr="C:\Users\grant\AppData\Local\Microsoft\Windows\INetCache\Content.MSO\FFAFFD29.tmp">
            <a:extLst>
              <a:ext uri="{FF2B5EF4-FFF2-40B4-BE49-F238E27FC236}">
                <a16:creationId xmlns:a16="http://schemas.microsoft.com/office/drawing/2014/main" id="{76134EB9-88F8-4F6D-8927-35B51DCC3A4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3"/>
          <a:stretch/>
        </p:blipFill>
        <p:spPr bwMode="auto">
          <a:xfrm>
            <a:off x="1101126" y="2485479"/>
            <a:ext cx="6645910" cy="33932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2022-01-18</a:t>
            </a:r>
            <a:r>
              <a:rPr kumimoji="1" lang="zh-TW" altLang="en-US" dirty="0"/>
              <a:t>交易資料為例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662" y="979283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將訂單流以高頻單進行標記，若高頻訂單流在一段時間小於一定的閾值，突兀出現的訂單流通常方向相反</a:t>
            </a:r>
            <a:endParaRPr kumimoji="1" lang="en-US" altLang="zh-TW" sz="1800" dirty="0"/>
          </a:p>
          <a:p>
            <a:endParaRPr kumimoji="1" lang="en-US" altLang="zh-TW" sz="1800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E27DDC-EF92-4375-BEA8-AD8F82F4A698}"/>
              </a:ext>
            </a:extLst>
          </p:cNvPr>
          <p:cNvSpPr/>
          <p:nvPr/>
        </p:nvSpPr>
        <p:spPr>
          <a:xfrm>
            <a:off x="3813174" y="2496910"/>
            <a:ext cx="135890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CCC288-394A-443C-8A02-EF31D564B2ED}"/>
              </a:ext>
            </a:extLst>
          </p:cNvPr>
          <p:cNvSpPr/>
          <p:nvPr/>
        </p:nvSpPr>
        <p:spPr>
          <a:xfrm>
            <a:off x="2505709" y="2485480"/>
            <a:ext cx="177165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DF6B3C-83A3-4496-8EA7-A35060E1E784}"/>
              </a:ext>
            </a:extLst>
          </p:cNvPr>
          <p:cNvSpPr/>
          <p:nvPr/>
        </p:nvSpPr>
        <p:spPr>
          <a:xfrm>
            <a:off x="2851784" y="2490560"/>
            <a:ext cx="122555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B35592-5DE6-4343-B91A-AC7A57444B0F}"/>
              </a:ext>
            </a:extLst>
          </p:cNvPr>
          <p:cNvSpPr/>
          <p:nvPr/>
        </p:nvSpPr>
        <p:spPr>
          <a:xfrm>
            <a:off x="6952614" y="2496910"/>
            <a:ext cx="142875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B98FAD-6801-4DF7-91C9-FECA672BFC2B}"/>
              </a:ext>
            </a:extLst>
          </p:cNvPr>
          <p:cNvSpPr/>
          <p:nvPr/>
        </p:nvSpPr>
        <p:spPr>
          <a:xfrm>
            <a:off x="3344544" y="2492465"/>
            <a:ext cx="135890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5753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C:\Users\grant\AppData\Local\Microsoft\Windows\INetCache\Content.MSO\1A3A421F.tmp">
            <a:extLst>
              <a:ext uri="{FF2B5EF4-FFF2-40B4-BE49-F238E27FC236}">
                <a16:creationId xmlns:a16="http://schemas.microsoft.com/office/drawing/2014/main" id="{E869C824-3854-4F83-AE6F-0AEB29079630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7"/>
          <a:stretch/>
        </p:blipFill>
        <p:spPr bwMode="auto">
          <a:xfrm>
            <a:off x="1101127" y="2305049"/>
            <a:ext cx="6645910" cy="34123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實際統計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2022-01-18</a:t>
            </a:r>
            <a:r>
              <a:rPr kumimoji="1" lang="zh-TW" altLang="en-US" dirty="0"/>
              <a:t>交易資料為例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62" y="919032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若高頻訂單流在一段時間小於一定的閾值，且逐筆交易單量沒有出現大單，價格會是平穩態</a:t>
            </a:r>
            <a:endParaRPr kumimoji="1" lang="en-US" altLang="zh-TW" sz="1800" dirty="0"/>
          </a:p>
          <a:p>
            <a:endParaRPr kumimoji="1" lang="en-US" altLang="zh-TW" sz="1800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417668-6C07-4395-B299-1CB3685052DF}"/>
              </a:ext>
            </a:extLst>
          </p:cNvPr>
          <p:cNvSpPr/>
          <p:nvPr/>
        </p:nvSpPr>
        <p:spPr>
          <a:xfrm>
            <a:off x="3919257" y="2343282"/>
            <a:ext cx="1009650" cy="31934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83185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AD308E8-68ED-2C46-BC56-14A5121D12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1758" y="2581962"/>
            <a:ext cx="7904393" cy="1775353"/>
          </a:xfrm>
        </p:spPr>
        <p:txBody>
          <a:bodyPr/>
          <a:lstStyle/>
          <a:p>
            <a:r>
              <a:rPr kumimoji="1" lang="zh-TW" altLang="en-US" dirty="0"/>
              <a:t>基於我觀察到現象我認為可以利用訂單流優化造市策略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36A95-2CE2-4055-AD5A-A0921D347A17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697161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CAB3929-0756-425C-95C3-D663BB07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302" y="2993654"/>
            <a:ext cx="4908698" cy="3873891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A3E87-21D8-5048-8334-F9334CE42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TW" altLang="en-US" dirty="0"/>
              <a:t>造市策略</a:t>
            </a: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DCEC500-8CBB-7E42-88A8-0D857B88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3667"/>
            <a:ext cx="8132440" cy="5342466"/>
          </a:xfrm>
        </p:spPr>
        <p:txBody>
          <a:bodyPr/>
          <a:lstStyle/>
          <a:p>
            <a:r>
              <a:rPr kumimoji="1" lang="zh-TW" altLang="en-US" sz="1800" dirty="0"/>
              <a:t>造市策略可用以下方法防止短時間不確定的上行或下行走勢</a:t>
            </a:r>
            <a:endParaRPr kumimoji="1" lang="en-US" altLang="zh-TW" sz="1800" dirty="0"/>
          </a:p>
          <a:p>
            <a:r>
              <a:rPr kumimoji="1" lang="zh-TW" altLang="en-US" sz="1800" dirty="0"/>
              <a:t>逐筆大單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急下行階段訂單流中間夾帶極大單量後續會有一波小反彈</a:t>
            </a:r>
            <a:endParaRPr kumimoji="1" lang="en-US" altLang="zh-TW" sz="1400" dirty="0"/>
          </a:p>
          <a:p>
            <a:pPr lvl="1"/>
            <a:r>
              <a:rPr kumimoji="1" lang="zh-TW" altLang="en-US" sz="1400" dirty="0"/>
              <a:t>急上行階段訂單流中間夾帶極大單量後續會是一段平穩期</a:t>
            </a:r>
            <a:endParaRPr kumimoji="1" lang="en-US" altLang="zh-TW" sz="1400" dirty="0"/>
          </a:p>
          <a:p>
            <a:r>
              <a:rPr kumimoji="1" lang="zh-TW" altLang="en-US" sz="1800" dirty="0"/>
              <a:t>高頻訂單流型態識別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小於一定閾值的高頻訂單流，通常方向相反</a:t>
            </a:r>
            <a:endParaRPr kumimoji="1" lang="en-US" altLang="zh-TW" sz="1400" dirty="0"/>
          </a:p>
          <a:p>
            <a:pPr lvl="2"/>
            <a:r>
              <a:rPr kumimoji="1" lang="zh-TW" altLang="en-US" sz="1200" dirty="0"/>
              <a:t>若出現超過</a:t>
            </a:r>
            <a:r>
              <a:rPr kumimoji="1" lang="en-US" altLang="zh-TW" sz="1200" dirty="0"/>
              <a:t>300</a:t>
            </a:r>
            <a:r>
              <a:rPr kumimoji="1" lang="zh-TW" altLang="en-US" sz="1200" dirty="0"/>
              <a:t>，後續的高頻訂單流可能方向相同</a:t>
            </a:r>
            <a:endParaRPr kumimoji="1" lang="en-US" altLang="zh-TW" sz="1200" dirty="0"/>
          </a:p>
          <a:p>
            <a:pPr lvl="1"/>
            <a:r>
              <a:rPr kumimoji="1" lang="zh-TW" altLang="en-US" sz="1400" dirty="0"/>
              <a:t>高頻訂單流在一段時間小於一定的閾值，且逐筆交易單量沒有出現大單，價格會是平穩態</a:t>
            </a:r>
            <a:endParaRPr kumimoji="1" lang="en-US" altLang="zh-TW" sz="1400" dirty="0"/>
          </a:p>
          <a:p>
            <a:r>
              <a:rPr kumimoji="1" lang="zh-TW" altLang="en-US" sz="1800" dirty="0"/>
              <a:t>以跨式進行保護</a:t>
            </a:r>
            <a:endParaRPr kumimoji="1" lang="en-US" altLang="zh-TW" sz="1800" dirty="0"/>
          </a:p>
          <a:p>
            <a:pPr lvl="1"/>
            <a:r>
              <a:rPr kumimoji="1" lang="zh-TW" altLang="en-US" sz="1400" dirty="0"/>
              <a:t>將</a:t>
            </a:r>
            <a:r>
              <a:rPr kumimoji="1" lang="en-US" altLang="zh-TW" sz="1400" dirty="0"/>
              <a:t>Straddle</a:t>
            </a:r>
            <a:r>
              <a:rPr kumimoji="1" lang="zh-TW" altLang="en-US" sz="1400" dirty="0"/>
              <a:t>改成</a:t>
            </a:r>
            <a:r>
              <a:rPr kumimoji="1" lang="en-US" altLang="zh-TW" sz="1400" dirty="0"/>
              <a:t>Iron fly</a:t>
            </a:r>
            <a:r>
              <a:rPr kumimoji="1" lang="zh-TW" altLang="en-US" sz="1400" dirty="0"/>
              <a:t>可以避免時間價值損失</a:t>
            </a:r>
            <a:endParaRPr kumimoji="1" lang="en-US" altLang="zh-TW" sz="1400" dirty="0"/>
          </a:p>
          <a:p>
            <a:endParaRPr kumimoji="1" lang="en-US" altLang="zh-TW" sz="1800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84313" y="6502420"/>
            <a:ext cx="2359687" cy="365125"/>
          </a:xfrm>
        </p:spPr>
        <p:txBody>
          <a:bodyPr/>
          <a:lstStyle/>
          <a:p>
            <a:fld id="{CBE36A95-2CE2-4055-AD5A-A0921D347A17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pic>
        <p:nvPicPr>
          <p:cNvPr id="7" name="圖片 6" descr="enter image description here">
            <a:extLst>
              <a:ext uri="{FF2B5EF4-FFF2-40B4-BE49-F238E27FC236}">
                <a16:creationId xmlns:a16="http://schemas.microsoft.com/office/drawing/2014/main" id="{39C35720-1A3C-4743-962E-17E9ACA6484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923" y="4174837"/>
            <a:ext cx="2367280" cy="177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8251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佈景主題1">
  <a:themeElements>
    <a:clrScheme name="佈景主題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自訂 1">
      <a:majorFont>
        <a:latin typeface="微軟正黑體"/>
        <a:ea typeface="微軟正黑體"/>
        <a:cs typeface="Helvetica"/>
      </a:majorFont>
      <a:minorFont>
        <a:latin typeface="微軟正黑體"/>
        <a:ea typeface="微軟正黑體"/>
        <a:cs typeface="Calibri"/>
      </a:minorFont>
    </a:fontScheme>
    <a:fmtScheme name="佈景主題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noAutofit/>
      </a:bodyPr>
      <a:lstStyle>
        <a:defPPr marL="0" marR="0" indent="0" algn="l" defTabSz="109723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109723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佈景主題2">
  <a:themeElements>
    <a:clrScheme name="佈景主題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佈景主題2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佈景主題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109723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109723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10106</TotalTime>
  <Words>1011</Words>
  <Application>Microsoft Office PowerPoint</Application>
  <PresentationFormat>如螢幕大小 (4:3)</PresentationFormat>
  <Paragraphs>106</Paragraphs>
  <Slides>17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8" baseType="lpstr">
      <vt:lpstr>華康黑體 Std W5</vt:lpstr>
      <vt:lpstr>Microsoft JhengHei</vt:lpstr>
      <vt:lpstr>Microsoft JhengHei</vt:lpstr>
      <vt:lpstr>新細明體</vt:lpstr>
      <vt:lpstr>標楷體</vt:lpstr>
      <vt:lpstr>Arial</vt:lpstr>
      <vt:lpstr>Calibri</vt:lpstr>
      <vt:lpstr>Calibri Light</vt:lpstr>
      <vt:lpstr>Helvetica</vt:lpstr>
      <vt:lpstr>Wingdings</vt:lpstr>
      <vt:lpstr>佈景主題1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Nien, Eva-HF</dc:creator>
  <cp:lastModifiedBy>邱子軒 0312205</cp:lastModifiedBy>
  <cp:revision>527</cp:revision>
  <dcterms:modified xsi:type="dcterms:W3CDTF">2022-03-15T03:09:15Z</dcterms:modified>
</cp:coreProperties>
</file>